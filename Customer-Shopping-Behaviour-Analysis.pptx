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Bold"/>
      <p:regular r:id="rId201315"/>
    </p:embeddedFont>
    <p:embeddedFont>
      <p:font typeface="Saira Semi Condensed"/>
      <p:regular r:id="rId201316"/>
    </p:embeddedFont>
    <p:embeddedFont>
      <p:font typeface="Saira Semi Condens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A3F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5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19170" y="1778953"/>
            <a:ext cx="5486263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ANALYTICS / 2026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219170" y="2102743"/>
            <a:ext cx="4876678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Customer Shopping</a:t>
            </a:r>
            <a:endParaRPr lang="en-US" sz="5000" dirty="0"/>
          </a:p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Behaviour Analysis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1219170" y="4759901"/>
            <a:ext cx="487667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How Python, PostgreSQL and Power BI turn 3,900 purchase records into business insight.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380484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01 — WORKFLOW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3195260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One dataset supports a full analytics workflow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4226501"/>
            <a:ext cx="319526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same records move from preparation to query to communication.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5876092"/>
            <a:ext cx="319526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3,900 customer purchase records · 18 original fields</a:t>
            </a:r>
            <a:endParaRPr lang="en-US" sz="10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6311" y="1869877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76311" y="2489954"/>
            <a:ext cx="20336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Inspect &amp; prepare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5176311" y="2842002"/>
            <a:ext cx="2033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Python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2343" y="1869877"/>
            <a:ext cx="444489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62343" y="2489954"/>
            <a:ext cx="2033636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Query &amp; measure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7362343" y="2842002"/>
            <a:ext cx="2033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PostgreSQL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375" y="1869877"/>
            <a:ext cx="444489" cy="444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48375" y="2489954"/>
            <a:ext cx="2033735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Communicate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9548375" y="2842002"/>
            <a:ext cx="203373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Power BI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176311" y="3581698"/>
            <a:ext cx="2033636" cy="1406426"/>
          </a:xfrm>
          <a:prstGeom prst="roundRect">
            <a:avLst>
              <a:gd name="adj" fmla="val 813"/>
            </a:avLst>
          </a:prstGeom>
          <a:solidFill>
            <a:srgbClr val="0A3F46"/>
          </a:solidFill>
          <a:ln/>
        </p:spPr>
      </p:sp>
      <p:sp>
        <p:nvSpPr>
          <p:cNvPr id="16" name="Text 11"/>
          <p:cNvSpPr/>
          <p:nvPr/>
        </p:nvSpPr>
        <p:spPr>
          <a:xfrm>
            <a:off x="5404905" y="4077950"/>
            <a:ext cx="180504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FOCUS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5404905" y="4371896"/>
            <a:ext cx="157644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Revenue, products, discounts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362343" y="3581698"/>
            <a:ext cx="2033636" cy="1406426"/>
          </a:xfrm>
          <a:prstGeom prst="roundRect">
            <a:avLst>
              <a:gd name="adj" fmla="val 813"/>
            </a:avLst>
          </a:prstGeom>
          <a:solidFill>
            <a:srgbClr val="0A3F46"/>
          </a:solidFill>
          <a:ln/>
        </p:spPr>
      </p:sp>
      <p:sp>
        <p:nvSpPr>
          <p:cNvPr id="19" name="Text 14"/>
          <p:cNvSpPr/>
          <p:nvPr/>
        </p:nvSpPr>
        <p:spPr>
          <a:xfrm>
            <a:off x="7590937" y="4077950"/>
            <a:ext cx="180504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FOCUS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590937" y="4371896"/>
            <a:ext cx="1576447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Subscriptions, shipping, ratings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9548375" y="3581698"/>
            <a:ext cx="2033735" cy="1406426"/>
          </a:xfrm>
          <a:prstGeom prst="roundRect">
            <a:avLst>
              <a:gd name="adj" fmla="val 813"/>
            </a:avLst>
          </a:prstGeom>
          <a:solidFill>
            <a:srgbClr val="0A3F46"/>
          </a:solidFill>
          <a:ln/>
        </p:spPr>
      </p:sp>
      <p:sp>
        <p:nvSpPr>
          <p:cNvPr id="22" name="Text 17"/>
          <p:cNvSpPr/>
          <p:nvPr/>
        </p:nvSpPr>
        <p:spPr>
          <a:xfrm>
            <a:off x="9776969" y="4077950"/>
            <a:ext cx="180514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FOCUS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9776969" y="4371896"/>
            <a:ext cx="1805141" cy="195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1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segments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939686" y="6466086"/>
            <a:ext cx="2520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2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926386" y="3314998"/>
            <a:ext cx="533387" cy="5334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8782" y="3467398"/>
            <a:ext cx="228594" cy="22860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8112418" y="3314998"/>
            <a:ext cx="533387" cy="5334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814" y="3467398"/>
            <a:ext cx="228594" cy="22860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0298549" y="3314998"/>
            <a:ext cx="533387" cy="5334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0946" y="3467398"/>
            <a:ext cx="228594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 — BUSINESS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3231"/>
            <a:ext cx="10972526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business need is to explain behaviour, not just store transactions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107505"/>
            <a:ext cx="3620798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5" name="Shape 3"/>
          <p:cNvSpPr/>
          <p:nvPr/>
        </p:nvSpPr>
        <p:spPr>
          <a:xfrm>
            <a:off x="609585" y="2329755"/>
            <a:ext cx="5410065" cy="1788716"/>
          </a:xfrm>
          <a:prstGeom prst="roundRect">
            <a:avLst>
              <a:gd name="adj" fmla="val 639"/>
            </a:avLst>
          </a:prstGeom>
          <a:solidFill>
            <a:srgbClr val="0A3F46"/>
          </a:solidFill>
          <a:ln/>
        </p:spPr>
      </p:sp>
      <p:sp>
        <p:nvSpPr>
          <p:cNvPr id="6" name="Shape 4"/>
          <p:cNvSpPr/>
          <p:nvPr/>
        </p:nvSpPr>
        <p:spPr>
          <a:xfrm>
            <a:off x="838179" y="2558355"/>
            <a:ext cx="571486" cy="5715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75" y="2710755"/>
            <a:ext cx="266693" cy="2667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38179" y="3250506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Revenue groups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8179" y="3645476"/>
            <a:ext cx="5181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Which customer groups contribute to revenue?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72046" y="2329755"/>
            <a:ext cx="5410065" cy="1788716"/>
          </a:xfrm>
          <a:prstGeom prst="roundRect">
            <a:avLst>
              <a:gd name="adj" fmla="val 639"/>
            </a:avLst>
          </a:prstGeom>
          <a:solidFill>
            <a:srgbClr val="0A3F46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640" y="2558355"/>
            <a:ext cx="571486" cy="5715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036" y="2710755"/>
            <a:ext cx="266693" cy="2667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640" y="3250506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Product performance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400640" y="3645476"/>
            <a:ext cx="518147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Which products and categories perform best?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09585" y="4270871"/>
            <a:ext cx="5410065" cy="2037556"/>
          </a:xfrm>
          <a:prstGeom prst="roundRect">
            <a:avLst>
              <a:gd name="adj" fmla="val 561"/>
            </a:avLst>
          </a:prstGeom>
          <a:solidFill>
            <a:srgbClr val="0A3F46"/>
          </a:solidFill>
          <a:ln/>
        </p:spPr>
      </p:sp>
      <p:sp>
        <p:nvSpPr>
          <p:cNvPr id="16" name="Shape 12"/>
          <p:cNvSpPr/>
          <p:nvPr/>
        </p:nvSpPr>
        <p:spPr>
          <a:xfrm>
            <a:off x="838179" y="4499471"/>
            <a:ext cx="571486" cy="5715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575" y="4651871"/>
            <a:ext cx="266693" cy="2667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179" y="5191621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Spend relationships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8179" y="5586591"/>
            <a:ext cx="49528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How do discounts, subscriptions and shipping relate to spend?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6172046" y="4270871"/>
            <a:ext cx="5410065" cy="2037556"/>
          </a:xfrm>
          <a:prstGeom prst="roundRect">
            <a:avLst>
              <a:gd name="adj" fmla="val 561"/>
            </a:avLst>
          </a:prstGeom>
          <a:solidFill>
            <a:srgbClr val="0A3F46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640" y="4499471"/>
            <a:ext cx="571486" cy="571500"/>
          </a:xfrm>
          <a:prstGeom prst="ellipse">
            <a:avLst/>
          </a:prstGeom>
          <a:solidFill>
            <a:srgbClr val="0A3F46"/>
          </a:solidFill>
          <a:ln w="19050">
            <a:solidFill>
              <a:srgbClr val="23585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36" y="4651871"/>
            <a:ext cx="266693" cy="2667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400640" y="5191621"/>
            <a:ext cx="4952876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Decision discipline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400640" y="5586591"/>
            <a:ext cx="4952876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How should the business act without confusing correlation with causation?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1935419" y="6466086"/>
            <a:ext cx="25627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63524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 — DATASET PROFILE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48579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dataset is broad enough for segmentation, but not for trends or profit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759075"/>
            <a:ext cx="3428914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18–70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09585" y="3507740"/>
            <a:ext cx="3657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AGE RANGE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495688" y="2759075"/>
            <a:ext cx="320032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USD 20–100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495688" y="350774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PURCHASE AMOUNT RANGE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153196" y="2759075"/>
            <a:ext cx="3428914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25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8153196" y="350774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DISTINCT PRODUCTS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09585" y="4215705"/>
            <a:ext cx="3428914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4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609585" y="4964370"/>
            <a:ext cx="365750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CATEGORIES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95688" y="4215705"/>
            <a:ext cx="320032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50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4495688" y="496437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LOCATIONS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153196" y="4215705"/>
            <a:ext cx="3428914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37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8153196" y="4964370"/>
            <a:ext cx="34289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MISSING REVIEW RATINGS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09585" y="530975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3,900 records · no transaction timestamps, costs or margins.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260743" y="2693988"/>
            <a:ext cx="12700" cy="122803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8" name="Shape 16"/>
          <p:cNvSpPr/>
          <p:nvPr/>
        </p:nvSpPr>
        <p:spPr>
          <a:xfrm>
            <a:off x="7918252" y="2693988"/>
            <a:ext cx="12700" cy="122803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585" y="3915668"/>
            <a:ext cx="3657509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0" name="Shape 18"/>
          <p:cNvSpPr/>
          <p:nvPr/>
        </p:nvSpPr>
        <p:spPr>
          <a:xfrm>
            <a:off x="4260743" y="3922018"/>
            <a:ext cx="12700" cy="122803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1" name="Shape 19"/>
          <p:cNvSpPr/>
          <p:nvPr/>
        </p:nvSpPr>
        <p:spPr>
          <a:xfrm>
            <a:off x="4267093" y="3915668"/>
            <a:ext cx="3657509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2" name="Shape 20"/>
          <p:cNvSpPr/>
          <p:nvPr/>
        </p:nvSpPr>
        <p:spPr>
          <a:xfrm>
            <a:off x="7918252" y="3922018"/>
            <a:ext cx="12700" cy="122803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3" name="Shape 21"/>
          <p:cNvSpPr/>
          <p:nvPr/>
        </p:nvSpPr>
        <p:spPr>
          <a:xfrm>
            <a:off x="7924602" y="3915668"/>
            <a:ext cx="3657509" cy="12700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24" name="Text 22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35618" y="6466086"/>
            <a:ext cx="25607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95075"/>
            <a:ext cx="36931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 — PREPARATION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718866"/>
            <a:ext cx="3083542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preparation layer makes the analysis repeatable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369386" y="2717998"/>
            <a:ext cx="6212724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Load and inspect the CSV with Pandas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Standardize fields such as 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customer_id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and 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purchase_amount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Create an 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age_group</a:t>
            </a:r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feature and document its boundaries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Load the cleaned dataset into PostgreSQL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Validate row counts, field types and missing ratings before analysis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1934130" y="6466086"/>
            <a:ext cx="25756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158563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 — SQL ANALYSIS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443619"/>
            <a:ext cx="4648084" cy="13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Ten SQL questions translate business needs into measurable analysis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3980458"/>
            <a:ext cx="1533685" cy="19050"/>
          </a:xfrm>
          <a:prstGeom prst="roundRect">
            <a:avLst>
              <a:gd name="adj" fmla="val 49999"/>
            </a:avLst>
          </a:prstGeom>
          <a:solidFill>
            <a:srgbClr val="0A3F46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207153"/>
            <a:ext cx="464808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Methods include aggregation, subqueries, conditional logic, CTEs and window functions.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027" y="2194322"/>
            <a:ext cx="4648084" cy="2469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36412" y="6466086"/>
            <a:ext cx="255283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610181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 — DECISION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33972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dashboard is the decision layer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68612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Power BI makes the approved questions explorable, then keeps verification visible.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089275"/>
            <a:ext cx="3555911" cy="2159397"/>
          </a:xfrm>
          <a:prstGeom prst="rect">
            <a:avLst/>
          </a:prstGeom>
          <a:solidFill>
            <a:srgbClr val="EAF6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317875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3883025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Headline measures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38179" y="4277995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Show revenue, record count, average purchase amount and average rating.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7892" y="3089275"/>
            <a:ext cx="3555911" cy="2159397"/>
          </a:xfrm>
          <a:prstGeom prst="rect">
            <a:avLst/>
          </a:prstGeom>
          <a:solidFill>
            <a:srgbClr val="EAF6F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486" y="3317875"/>
            <a:ext cx="444489" cy="444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6486" y="3883025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Explorable patterns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46486" y="4277995"/>
            <a:ext cx="309872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Make demographic, product, subscription, discount, shipping and age-group patterns explorable.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026199" y="3089275"/>
            <a:ext cx="3555911" cy="2159397"/>
          </a:xfrm>
          <a:prstGeom prst="rect">
            <a:avLst/>
          </a:prstGeom>
          <a:solidFill>
            <a:srgbClr val="EAF6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793" y="3317875"/>
            <a:ext cx="444489" cy="444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54793" y="3883025"/>
            <a:ext cx="3098722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Open validation work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254793" y="4277995"/>
            <a:ext cx="309872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Confirm the PBIX measures, visuals and filters before presenting findings as verified results.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021219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 — INTERPRETATION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45009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analysis can inform action, but not causal claims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732167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These are decision areas enabled by the analysis, not proven intervention effects.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135313"/>
            <a:ext cx="5410065" cy="1399381"/>
          </a:xfrm>
          <a:prstGeom prst="roundRect">
            <a:avLst>
              <a:gd name="adj" fmla="val 817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7229" y="3398838"/>
            <a:ext cx="49147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Merchandising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57229" y="3793808"/>
            <a:ext cx="491477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Focus on products and categories with stronger purchase frequency.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046" y="3135313"/>
            <a:ext cx="5410065" cy="1399381"/>
          </a:xfrm>
          <a:prstGeom prst="roundRect">
            <a:avLst>
              <a:gd name="adj" fmla="val 817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19689" y="3398838"/>
            <a:ext cx="49147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Customer experience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19689" y="3793808"/>
            <a:ext cx="51624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Investigate lower-rated products.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9585" y="4687094"/>
            <a:ext cx="5410065" cy="1150541"/>
          </a:xfrm>
          <a:prstGeom prst="roundRect">
            <a:avLst>
              <a:gd name="adj" fmla="val 993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7229" y="4950619"/>
            <a:ext cx="49147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Loyalty and subscriptions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7229" y="5345589"/>
            <a:ext cx="51624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Compare segment size, spend and revenue.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046" y="4687094"/>
            <a:ext cx="5410065" cy="1150541"/>
          </a:xfrm>
          <a:prstGeom prst="roundRect">
            <a:avLst>
              <a:gd name="adj" fmla="val 993"/>
            </a:avLst>
          </a:prstGeom>
          <a:noFill/>
          <a:ln w="19050">
            <a:solidFill>
              <a:srgbClr val="2358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689" y="4950619"/>
            <a:ext cx="491477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Promotions and operations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19689" y="5345589"/>
            <a:ext cx="516242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Review discount, shipping and payment patterns.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933336" y="6466086"/>
            <a:ext cx="2583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 — LIMITATIONS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34343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Three limitations matter most for interpretation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6350" cy="1813223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5" name="Text 3"/>
          <p:cNvSpPr/>
          <p:nvPr/>
        </p:nvSpPr>
        <p:spPr>
          <a:xfrm>
            <a:off x="844529" y="2561531"/>
            <a:ext cx="48703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Coverage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44529" y="2952055"/>
            <a:ext cx="4870328" cy="851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No transaction timestamp: no reliable time-series or cohort analysis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Previous purchases are not a complete transaction history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48244" y="2317055"/>
            <a:ext cx="6350" cy="1813223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8" name="Text 6"/>
          <p:cNvSpPr/>
          <p:nvPr/>
        </p:nvSpPr>
        <p:spPr>
          <a:xfrm>
            <a:off x="6483188" y="2561531"/>
            <a:ext cx="48703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Economics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83188" y="2956501"/>
            <a:ext cx="50989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No costs or margins: purchase amount is not profit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435078"/>
            <a:ext cx="6350" cy="1813322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1" name="Text 9"/>
          <p:cNvSpPr/>
          <p:nvPr/>
        </p:nvSpPr>
        <p:spPr>
          <a:xfrm>
            <a:off x="844529" y="4679553"/>
            <a:ext cx="48703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Inference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4529" y="5074523"/>
            <a:ext cx="487032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Observational records: comparisons do not establish causality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4435078"/>
            <a:ext cx="6350" cy="1813322"/>
          </a:xfrm>
          <a:prstGeom prst="rect">
            <a:avLst/>
          </a:prstGeom>
          <a:solidFill>
            <a:srgbClr val="2F6A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83188" y="4679553"/>
            <a:ext cx="487032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History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83188" y="5074523"/>
            <a:ext cx="509892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Previous purchases are not a complete transaction history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936114" y="6466086"/>
            <a:ext cx="25558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2575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A9DDF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 — NEXT RELEASE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036366"/>
            <a:ext cx="4648084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EAF6FA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The next release should strengthen validation and reproducibility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934027" y="732096"/>
            <a:ext cx="1562061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Separate and document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934027" y="1321574"/>
            <a:ext cx="156206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Separate cleaning code from the notebook and document age-group boundaries.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20049" y="850761"/>
            <a:ext cx="156206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Test the pipeline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20049" y="1202809"/>
            <a:ext cx="156206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Add duplicate, null, range and cross-system reconciliation checks.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934027" y="4207828"/>
            <a:ext cx="1562061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Harden the queries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934027" y="4797306"/>
            <a:ext cx="1562061" cy="1493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Apply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EAF6FA"/>
                </a:solidFill>
                <a:latin typeface="Public Sans Bold" pitchFamily="34" charset="0"/>
                <a:ea typeface="Public Sans Bold" pitchFamily="34" charset="-122"/>
                <a:cs typeface="Public Sans Bold" pitchFamily="34" charset="0"/>
              </a:rPr>
              <a:t>item_rank &lt;= 3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 in the category ranking query; add rates, denominators and rating counts.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20049" y="4313496"/>
            <a:ext cx="1562061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A9DDF0"/>
                </a:solidFill>
                <a:latin typeface="Saira Semi Condensed" pitchFamily="34" charset="0"/>
                <a:ea typeface="Saira Semi Condensed" pitchFamily="34" charset="-122"/>
                <a:cs typeface="Saira Semi Condensed" pitchFamily="34" charset="0"/>
              </a:rPr>
              <a:t>Expand the evidence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20049" y="4902974"/>
            <a:ext cx="1562061" cy="12442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Add dates, costs, acquisition, campaign and inventory data for deeper analysis.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77895" y="6466086"/>
            <a:ext cx="288203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Customer Shopping Behaviour Analysis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101" y="6466086"/>
            <a:ext cx="3045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EAF6FA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2026-10-30T10:41:41Z</dcterms:created>
  <dcterms:modified xsi:type="dcterms:W3CDTF">2026-10-30T10:41:41Z</dcterms:modified>
</cp:coreProperties>
</file>